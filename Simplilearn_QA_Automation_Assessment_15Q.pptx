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3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5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1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2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7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2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6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3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7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4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8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5507-4AF4-EDDE-BBD9-61371E7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Planning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AF11-A877-8C51-836C-6515FF767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You join a new project and are given a requirement document for a customer onboarding application.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Walk me through your approach from requirement review until test execution.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1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F35E-C661-C351-4737-812DDD2E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175D-6288-5852-8939-E461CEE7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</a:p>
          <a:p>
            <a:r>
              <a:rPr lang="en-US" dirty="0"/>
              <a:t> Clarification meetings </a:t>
            </a:r>
          </a:p>
          <a:p>
            <a:r>
              <a:rPr lang="en-US" dirty="0"/>
              <a:t>Test scenarios</a:t>
            </a:r>
          </a:p>
          <a:p>
            <a:r>
              <a:rPr lang="en-US" dirty="0"/>
              <a:t> Test cases </a:t>
            </a:r>
          </a:p>
          <a:p>
            <a:r>
              <a:rPr lang="en-US" dirty="0"/>
              <a:t>Test data preparation </a:t>
            </a:r>
          </a:p>
          <a:p>
            <a:r>
              <a:rPr lang="en-US" dirty="0"/>
              <a:t>Execution </a:t>
            </a:r>
          </a:p>
          <a:p>
            <a:r>
              <a:rPr lang="en-US" dirty="0"/>
              <a:t>Defect logging </a:t>
            </a:r>
          </a:p>
          <a:p>
            <a:r>
              <a:rPr lang="en-US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16485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B01A-906B-59D8-2FD9-0C5FC65F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315C-7D54-6D8A-B6E9-27965F27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74E2-CCCF-0F0F-B34D-03B20425D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Tell me about a situation where requirements were unclear or incomplete.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did you handle it?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60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1595-8D9B-01B1-F4A0-344C0830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F2DA-0C9E-82C8-AC55-316090C8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D4D0F-E21E-D548-B6B2-5D1A24FB8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with BA/Product Owner</a:t>
            </a:r>
          </a:p>
          <a:p>
            <a:r>
              <a:rPr lang="en-US" dirty="0"/>
              <a:t>Asked questions early</a:t>
            </a:r>
          </a:p>
          <a:p>
            <a:r>
              <a:rPr lang="en-US" dirty="0"/>
              <a:t>Documented assumptions</a:t>
            </a:r>
          </a:p>
          <a:p>
            <a:r>
              <a:rPr lang="en-US" dirty="0"/>
              <a:t>Prevented future defects</a:t>
            </a:r>
          </a:p>
        </p:txBody>
      </p:sp>
    </p:spTree>
    <p:extLst>
      <p:ext uri="{BB962C8B-B14F-4D97-AF65-F5344CB8AC3E}">
        <p14:creationId xmlns:p14="http://schemas.microsoft.com/office/powerpoint/2010/main" val="108946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AD47-7283-7300-09CF-4625A8B4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C05E-6A6F-DBA7-A977-1DEE7BBD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3918-3BAB-9B3A-E13E-8C81FC06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Suppose developers changed the payment module.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application contains: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Login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Product Catalog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Shopping Cart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Payment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Order History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You only have one day before release.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would you decide what to test?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BC97-2FC0-3938-98C7-7C3DD6A2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7926-D73B-E700-E5E3-8EDD44E6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A28D-566A-419B-3F7A-A8B372FCE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Risk-based testing</a:t>
            </a:r>
          </a:p>
          <a:p>
            <a:r>
              <a:rPr lang="en-US" dirty="0"/>
              <a:t>Impact analysis</a:t>
            </a:r>
          </a:p>
          <a:p>
            <a:r>
              <a:rPr lang="en-US" dirty="0"/>
              <a:t>Critical business flows</a:t>
            </a:r>
          </a:p>
          <a:p>
            <a:r>
              <a:rPr lang="en-US" dirty="0"/>
              <a:t>Smoke + regression coverage</a:t>
            </a:r>
          </a:p>
        </p:txBody>
      </p:sp>
    </p:spTree>
    <p:extLst>
      <p:ext uri="{BB962C8B-B14F-4D97-AF65-F5344CB8AC3E}">
        <p14:creationId xmlns:p14="http://schemas.microsoft.com/office/powerpoint/2010/main" val="1542920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8F3A-9729-1B16-F2B7-9B12138C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DA75-DD7F-07D8-4BC6-E160CE8B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B7C81-F3C0-9EEE-6800-251591EB4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Tell me about the most critical defect you have reported.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did you identify it?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did you communicate it?</a:t>
            </a:r>
          </a:p>
        </p:txBody>
      </p:sp>
    </p:spTree>
    <p:extLst>
      <p:ext uri="{BB962C8B-B14F-4D97-AF65-F5344CB8AC3E}">
        <p14:creationId xmlns:p14="http://schemas.microsoft.com/office/powerpoint/2010/main" val="68313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6798-815A-D78D-92D9-BB8420F9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D46B-2D59-C2BD-B75D-839CE1E49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4402-9EA2-D053-94D6-358B9C98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Risk-based testing</a:t>
            </a:r>
          </a:p>
          <a:p>
            <a:r>
              <a:rPr lang="en-US" dirty="0"/>
              <a:t>Impact analysis</a:t>
            </a:r>
          </a:p>
          <a:p>
            <a:r>
              <a:rPr lang="en-US" dirty="0"/>
              <a:t>Critical business flows</a:t>
            </a:r>
          </a:p>
          <a:p>
            <a:r>
              <a:rPr lang="en-US" dirty="0"/>
              <a:t>Smoke + regression coverage</a:t>
            </a:r>
          </a:p>
        </p:txBody>
      </p:sp>
    </p:spTree>
    <p:extLst>
      <p:ext uri="{BB962C8B-B14F-4D97-AF65-F5344CB8AC3E}">
        <p14:creationId xmlns:p14="http://schemas.microsoft.com/office/powerpoint/2010/main" val="274609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709D-FDA2-4FD6-6956-3E9F09D7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416E-7F5C-9EDC-AE8C-E2DA763E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9412D-86A1-AF69-53B3-AACC1D80D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Suppose developers changed the payment module.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application contains: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Login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Product Catalog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Shopping Cart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Payment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Order History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You only have one day before release.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would you decide what to test?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73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BBB-35EE-7F34-36D2-60E0539B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C850-1395-E3B8-9A65-6449FCE3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38E1-D343-F929-0CA5-E813BC5A2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  <a:p>
            <a:r>
              <a:rPr lang="en-US" dirty="0"/>
              <a:t>Reproduction steps</a:t>
            </a:r>
          </a:p>
          <a:p>
            <a:r>
              <a:rPr lang="en-US" dirty="0"/>
              <a:t>Severity vs Priority</a:t>
            </a:r>
          </a:p>
          <a:p>
            <a:r>
              <a:rPr lang="en-US" dirty="0"/>
              <a:t>Communication with stakeholders</a:t>
            </a:r>
          </a:p>
        </p:txBody>
      </p:sp>
    </p:spTree>
    <p:extLst>
      <p:ext uri="{BB962C8B-B14F-4D97-AF65-F5344CB8AC3E}">
        <p14:creationId xmlns:p14="http://schemas.microsoft.com/office/powerpoint/2010/main" val="391338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D5DE-BDA2-E4C1-6957-6EBD5963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B904-2112-E804-1749-4B162FAD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 Developer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0A94-0714-756F-3C76-5AABFD6C9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Have you ever raised a bug that a developer rejected?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happened?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did you resolve it?</a:t>
            </a:r>
          </a:p>
        </p:txBody>
      </p:sp>
    </p:spTree>
    <p:extLst>
      <p:ext uri="{BB962C8B-B14F-4D97-AF65-F5344CB8AC3E}">
        <p14:creationId xmlns:p14="http://schemas.microsoft.com/office/powerpoint/2010/main" val="2273985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A16D-414A-E84A-7DFD-F4298096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F773-111F-AEA0-79C3-306B42D6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8175D-F738-E39B-FD80-574C21C23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do you usually create test cases?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Do you write detailed step-by-step test cases or high-level scenarios?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84380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FE7A-0C73-4338-8D50-CC0ACC8D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16BC-DDA6-6FFE-7742-1A3EF67A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959B-65BF-4C72-FBFE-F31BBF70D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Suppose developers changed the payment module.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application contains: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Login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Product Catalog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Shopping Cart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Payment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Order History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You only have one day before release.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would you decide what to test?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318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A05F-F836-B3DC-1728-80AB5D7C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625D-E63D-F55D-6A54-86415EF3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851C-98BE-027C-5591-9ACF976A3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Risk-based approach</a:t>
            </a:r>
          </a:p>
          <a:p>
            <a:r>
              <a:rPr lang="en-US" dirty="0"/>
              <a:t>Reusability</a:t>
            </a:r>
          </a:p>
          <a:p>
            <a:r>
              <a:rPr lang="en-US" dirty="0"/>
              <a:t>Project context</a:t>
            </a:r>
          </a:p>
        </p:txBody>
      </p:sp>
    </p:spTree>
    <p:extLst>
      <p:ext uri="{BB962C8B-B14F-4D97-AF65-F5344CB8AC3E}">
        <p14:creationId xmlns:p14="http://schemas.microsoft.com/office/powerpoint/2010/main" val="1616629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9F2E-439A-298B-A244-01388ED1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D926-769D-5AAD-8DF8-29C7BE4F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Defect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55352-5AE0-43E4-2C8A-4795AC080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 defect escaped to production.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Management wants to know why.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would you investigate?</a:t>
            </a:r>
          </a:p>
        </p:txBody>
      </p:sp>
    </p:spTree>
    <p:extLst>
      <p:ext uri="{BB962C8B-B14F-4D97-AF65-F5344CB8AC3E}">
        <p14:creationId xmlns:p14="http://schemas.microsoft.com/office/powerpoint/2010/main" val="805964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083A-0D8A-FC19-05B2-C8079CBE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47E2-5194-CA23-323C-98D2C9AF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B0E5-C70C-7C11-22C8-8F38AE1B7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cause analysis</a:t>
            </a:r>
          </a:p>
          <a:p>
            <a:r>
              <a:rPr lang="en-US" dirty="0"/>
              <a:t>Gap in requirement</a:t>
            </a:r>
          </a:p>
          <a:p>
            <a:r>
              <a:rPr lang="en-US" dirty="0"/>
              <a:t>Gap in testing</a:t>
            </a:r>
          </a:p>
          <a:p>
            <a:r>
              <a:rPr lang="en-US" dirty="0"/>
              <a:t>Missing regression coverage</a:t>
            </a:r>
          </a:p>
          <a:p>
            <a:r>
              <a:rPr lang="en-US" dirty="0"/>
              <a:t>Process improvement</a:t>
            </a:r>
          </a:p>
        </p:txBody>
      </p:sp>
    </p:spTree>
    <p:extLst>
      <p:ext uri="{BB962C8B-B14F-4D97-AF65-F5344CB8AC3E}">
        <p14:creationId xmlns:p14="http://schemas.microsoft.com/office/powerpoint/2010/main" val="398258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81BB-BEE4-3497-CC17-5138CDC1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E0B0-FC57-63A5-9FCD-8807DE67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7FA4E-9BA1-A2E7-9C12-F626EEF5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Describe your role during a Sprint.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Which Agile ceremonies do you actively participate in?</a:t>
            </a:r>
          </a:p>
        </p:txBody>
      </p:sp>
    </p:spTree>
    <p:extLst>
      <p:ext uri="{BB962C8B-B14F-4D97-AF65-F5344CB8AC3E}">
        <p14:creationId xmlns:p14="http://schemas.microsoft.com/office/powerpoint/2010/main" val="184106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B2C6-1667-5DAE-ED2C-D0B6932E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40B4-6978-DFD5-ABC9-ADBCC73D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DE9D-8C80-657A-2EFE-DFDE0BF7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Sprint Planning</a:t>
            </a:r>
          </a:p>
          <a:p>
            <a:r>
              <a:rPr lang="en-US" dirty="0"/>
              <a:t>Daily Standup</a:t>
            </a:r>
          </a:p>
          <a:p>
            <a:r>
              <a:rPr lang="en-US" dirty="0"/>
              <a:t>Backlog Refinement</a:t>
            </a:r>
          </a:p>
          <a:p>
            <a:r>
              <a:rPr lang="en-US" dirty="0"/>
              <a:t>Sprint Review</a:t>
            </a:r>
          </a:p>
          <a:p>
            <a:r>
              <a:rPr lang="en-US" dirty="0"/>
              <a:t>Retrospective</a:t>
            </a:r>
          </a:p>
        </p:txBody>
      </p:sp>
    </p:spTree>
    <p:extLst>
      <p:ext uri="{BB962C8B-B14F-4D97-AF65-F5344CB8AC3E}">
        <p14:creationId xmlns:p14="http://schemas.microsoft.com/office/powerpoint/2010/main" val="2131287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73C4-261C-445C-7EFF-59F7A0D9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67D2-6397-5CDE-E59B-8096671D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0012-28EE-F549-6E19-42B71DC42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Tell me about an automation framework you have worked on.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What was your contribution?</a:t>
            </a:r>
          </a:p>
        </p:txBody>
      </p:sp>
    </p:spTree>
    <p:extLst>
      <p:ext uri="{BB962C8B-B14F-4D97-AF65-F5344CB8AC3E}">
        <p14:creationId xmlns:p14="http://schemas.microsoft.com/office/powerpoint/2010/main" val="175137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4F79-1406-C7BA-4E50-D60D9617C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071-E809-2347-2680-C8763745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7EA43-3B43-ACDB-2936-746C453A0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Object Model</a:t>
            </a:r>
          </a:p>
          <a:p>
            <a:r>
              <a:rPr lang="en-US" dirty="0"/>
              <a:t>TestNG</a:t>
            </a:r>
          </a:p>
          <a:p>
            <a:r>
              <a:rPr lang="en-US" dirty="0"/>
              <a:t>Selenium</a:t>
            </a:r>
          </a:p>
          <a:p>
            <a:r>
              <a:rPr lang="en-US" dirty="0"/>
              <a:t>Reporting</a:t>
            </a:r>
          </a:p>
          <a:p>
            <a:r>
              <a:rPr lang="en-US" dirty="0"/>
              <a:t>CI/CD integration</a:t>
            </a:r>
          </a:p>
        </p:txBody>
      </p:sp>
    </p:spTree>
    <p:extLst>
      <p:ext uri="{BB962C8B-B14F-4D97-AF65-F5344CB8AC3E}">
        <p14:creationId xmlns:p14="http://schemas.microsoft.com/office/powerpoint/2010/main" val="2389981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5F33-DA35-2678-9338-A902512E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167-3D72-8CFF-5162-5E36D7B5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D853D-647E-E3C0-000F-42D4428F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How do you manage test data for testing?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Have you ever faced challenges obtaining test data?</a:t>
            </a:r>
          </a:p>
        </p:txBody>
      </p:sp>
    </p:spTree>
    <p:extLst>
      <p:ext uri="{BB962C8B-B14F-4D97-AF65-F5344CB8AC3E}">
        <p14:creationId xmlns:p14="http://schemas.microsoft.com/office/powerpoint/2010/main" val="4217970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670EB-EE1A-DEC0-C83D-0A8ABDF0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FA3F-2005-9DCF-8297-93A4AF43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00E80-1095-9E78-33DC-2BF5C7810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Synthetic data</a:t>
            </a:r>
          </a:p>
          <a:p>
            <a:r>
              <a:rPr lang="en-US" dirty="0"/>
              <a:t>Database queries</a:t>
            </a:r>
          </a:p>
          <a:p>
            <a:r>
              <a:rPr lang="en-US" dirty="0"/>
              <a:t>Data masking</a:t>
            </a:r>
          </a:p>
          <a:p>
            <a:r>
              <a:rPr lang="en-US" dirty="0"/>
              <a:t>Environment management</a:t>
            </a:r>
          </a:p>
        </p:txBody>
      </p:sp>
    </p:spTree>
    <p:extLst>
      <p:ext uri="{BB962C8B-B14F-4D97-AF65-F5344CB8AC3E}">
        <p14:creationId xmlns:p14="http://schemas.microsoft.com/office/powerpoint/2010/main" val="1399274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B5AD-0B5C-A29A-99C9-AB9A69C2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E464-1301-7446-ABC8-325D2103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7B5E0-49C0-1F6A-DA70-AF60287A1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Suppose testing is incomplete but management wants to release.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 would you communicate risks?</a:t>
            </a:r>
          </a:p>
        </p:txBody>
      </p:sp>
    </p:spTree>
    <p:extLst>
      <p:ext uri="{BB962C8B-B14F-4D97-AF65-F5344CB8AC3E}">
        <p14:creationId xmlns:p14="http://schemas.microsoft.com/office/powerpoint/2010/main" val="2250786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030D-750A-B3D3-FC07-D4A6E165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DB2F-88C7-B797-1473-55E45B6F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21556-7168-72BE-C6A6-AE140CFD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assessment</a:t>
            </a:r>
          </a:p>
          <a:p>
            <a:r>
              <a:rPr lang="en-US" dirty="0"/>
              <a:t>Open defects</a:t>
            </a:r>
          </a:p>
          <a:p>
            <a:r>
              <a:rPr lang="en-US" dirty="0"/>
              <a:t>Impact analysis</a:t>
            </a:r>
          </a:p>
          <a:p>
            <a:r>
              <a:rPr lang="en-US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908005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1394-E8CB-BFBF-56D1-2C280002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02E9-6C67-289D-84D1-22A30EE9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Testing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FBF1-03F6-396C-448B-5FFB561BE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Tell me about an API testing project you worked on.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What exactly did you validate?</a:t>
            </a:r>
          </a:p>
        </p:txBody>
      </p:sp>
    </p:spTree>
    <p:extLst>
      <p:ext uri="{BB962C8B-B14F-4D97-AF65-F5344CB8AC3E}">
        <p14:creationId xmlns:p14="http://schemas.microsoft.com/office/powerpoint/2010/main" val="239971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F848-F2AA-7788-6C13-9F4049AE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4BD1-2CD1-8FE0-AF5B-340EF1C0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2989-DB58-4BAC-CC90-B90EB2DCC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Status codes</a:t>
            </a:r>
          </a:p>
          <a:p>
            <a:r>
              <a:rPr lang="en-US" dirty="0"/>
              <a:t>Response body</a:t>
            </a:r>
          </a:p>
          <a:p>
            <a:r>
              <a:rPr lang="en-US" dirty="0"/>
              <a:t>Headers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Database validation</a:t>
            </a:r>
          </a:p>
        </p:txBody>
      </p:sp>
    </p:spTree>
    <p:extLst>
      <p:ext uri="{BB962C8B-B14F-4D97-AF65-F5344CB8AC3E}">
        <p14:creationId xmlns:p14="http://schemas.microsoft.com/office/powerpoint/2010/main" val="1232215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BE2F-10A6-69E2-7395-1CEA010C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63F2-316B-8141-5A1F-41CBE0BE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29C4-8BCF-FDE2-2112-2C15513CD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Before giving sign-off for production deployment, what checks do you normally perform?</a:t>
            </a:r>
          </a:p>
        </p:txBody>
      </p:sp>
    </p:spTree>
    <p:extLst>
      <p:ext uri="{BB962C8B-B14F-4D97-AF65-F5344CB8AC3E}">
        <p14:creationId xmlns:p14="http://schemas.microsoft.com/office/powerpoint/2010/main" val="3430399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D4614-3A2A-C1B8-16F1-C40E174D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CF85-2951-6991-AC78-64D926A1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0B1B-C424-1418-BF54-2D57381DB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completion</a:t>
            </a:r>
          </a:p>
          <a:p>
            <a:r>
              <a:rPr lang="en-US" dirty="0"/>
              <a:t>Defect review</a:t>
            </a:r>
          </a:p>
          <a:p>
            <a:r>
              <a:rPr lang="en-US" dirty="0"/>
              <a:t>Test summary report</a:t>
            </a:r>
          </a:p>
          <a:p>
            <a:r>
              <a:rPr lang="en-US" dirty="0"/>
              <a:t>Environment validation</a:t>
            </a:r>
          </a:p>
          <a:p>
            <a:r>
              <a:rPr lang="en-US" dirty="0"/>
              <a:t>Smoke test readiness</a:t>
            </a:r>
          </a:p>
        </p:txBody>
      </p:sp>
    </p:spTree>
    <p:extLst>
      <p:ext uri="{BB962C8B-B14F-4D97-AF65-F5344CB8AC3E}">
        <p14:creationId xmlns:p14="http://schemas.microsoft.com/office/powerpoint/2010/main" val="2133420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FF7E-4784-9B3F-2A4C-69174C7C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49B3-3E88-4FB2-74D3-506002BD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Challenging Testing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B439E-7568-2EBE-8C2B-5EB39EFBF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Tell me about the most difficult testing challenge you have faced in your career.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was the situation?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actions did you take?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was the outcome?</a:t>
            </a:r>
          </a:p>
        </p:txBody>
      </p:sp>
    </p:spTree>
    <p:extLst>
      <p:ext uri="{BB962C8B-B14F-4D97-AF65-F5344CB8AC3E}">
        <p14:creationId xmlns:p14="http://schemas.microsoft.com/office/powerpoint/2010/main" val="2610173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2EF9-CD4D-7DEF-98E3-92E6975E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4741-1E64-61C9-0FC0-16227468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expect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C3F4-76D9-933F-E76D-04F84104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 of experience</a:t>
            </a:r>
          </a:p>
          <a:p>
            <a:r>
              <a:rPr lang="en-US" dirty="0"/>
              <a:t>Problem-solving</a:t>
            </a:r>
          </a:p>
          <a:p>
            <a:r>
              <a:rPr lang="en-US" dirty="0"/>
              <a:t>Ownership</a:t>
            </a:r>
          </a:p>
          <a:p>
            <a:r>
              <a:rPr lang="en-US" dirty="0"/>
              <a:t>Communication</a:t>
            </a:r>
          </a:p>
          <a:p>
            <a:r>
              <a:rPr lang="en-US" dirty="0"/>
              <a:t>Leadership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0A8DC-83E8-FCD3-F677-AADF472D9164}"/>
              </a:ext>
            </a:extLst>
          </p:cNvPr>
          <p:cNvSpPr txBox="1"/>
          <p:nvPr/>
        </p:nvSpPr>
        <p:spPr>
          <a:xfrm>
            <a:off x="4279392" y="121900"/>
            <a:ext cx="742492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 one of my previous projects, we were developing an online banking application. The application had recently undergone a major enhancement in the fund transfer module.</a:t>
            </a:r>
          </a:p>
          <a:p>
            <a:r>
              <a:rPr lang="en-US" sz="1050" dirty="0"/>
              <a:t>During User Acceptance Testing, everything appeared to be working correctly. However, while performing exploratory testing, I noticed that under specific conditions, the account balance was not updating correctly after multiple simultaneous transactions.</a:t>
            </a:r>
          </a:p>
          <a:p>
            <a:r>
              <a:rPr lang="en-US" sz="1050" dirty="0"/>
              <a:t>The challenge was that the defect could not be reproduced consistently. Sometimes it occurred, and sometimes it didn't.</a:t>
            </a:r>
          </a:p>
          <a:p>
            <a:r>
              <a:rPr lang="en-US" sz="1050" b="1" dirty="0"/>
              <a:t>Situation</a:t>
            </a:r>
          </a:p>
          <a:p>
            <a:r>
              <a:rPr lang="en-US" sz="1050" dirty="0"/>
              <a:t>Release was scheduled in less than one week. </a:t>
            </a:r>
          </a:p>
          <a:p>
            <a:r>
              <a:rPr lang="en-US" sz="1050" dirty="0"/>
              <a:t>Development team initially believed the issue was an environment problem. </a:t>
            </a:r>
          </a:p>
          <a:p>
            <a:r>
              <a:rPr lang="en-US" sz="1050" dirty="0"/>
              <a:t>Business stakeholders considered it low priority because it occurred rarely. </a:t>
            </a:r>
          </a:p>
          <a:p>
            <a:r>
              <a:rPr lang="en-US" sz="1050" dirty="0"/>
              <a:t>Since it involved financial transactions, I believed the risk was extremely high. </a:t>
            </a:r>
          </a:p>
          <a:p>
            <a:r>
              <a:rPr lang="en-US" sz="1050" b="1" dirty="0"/>
              <a:t>Actions Taken</a:t>
            </a:r>
          </a:p>
          <a:p>
            <a:r>
              <a:rPr lang="en-US" sz="1050" dirty="0"/>
              <a:t>First, I collected detailed evidence:</a:t>
            </a:r>
          </a:p>
          <a:p>
            <a:r>
              <a:rPr lang="en-US" sz="1050" dirty="0"/>
              <a:t>Application logs </a:t>
            </a:r>
          </a:p>
          <a:p>
            <a:r>
              <a:rPr lang="en-US" sz="1050" dirty="0"/>
              <a:t>Database transaction logs </a:t>
            </a:r>
          </a:p>
          <a:p>
            <a:r>
              <a:rPr lang="en-US" sz="1050" dirty="0"/>
              <a:t>Screenshots </a:t>
            </a:r>
          </a:p>
          <a:p>
            <a:r>
              <a:rPr lang="en-US" sz="1050" dirty="0"/>
              <a:t>Time stamps </a:t>
            </a:r>
          </a:p>
          <a:p>
            <a:r>
              <a:rPr lang="en-US" sz="1050" dirty="0"/>
              <a:t>User activity records </a:t>
            </a:r>
          </a:p>
          <a:p>
            <a:r>
              <a:rPr lang="en-US" sz="1050" dirty="0"/>
              <a:t>Then I collaborated with:</a:t>
            </a:r>
          </a:p>
          <a:p>
            <a:r>
              <a:rPr lang="en-US" sz="1050" dirty="0"/>
              <a:t>Developers </a:t>
            </a:r>
          </a:p>
          <a:p>
            <a:r>
              <a:rPr lang="en-US" sz="1050" dirty="0"/>
              <a:t>Database Administrators </a:t>
            </a:r>
          </a:p>
          <a:p>
            <a:r>
              <a:rPr lang="en-US" sz="1050" dirty="0"/>
              <a:t>Business Analysts </a:t>
            </a:r>
          </a:p>
          <a:p>
            <a:r>
              <a:rPr lang="en-US" sz="1050" dirty="0"/>
              <a:t>I created a detailed defect report with exact reproduction steps.</a:t>
            </a:r>
          </a:p>
          <a:p>
            <a:r>
              <a:rPr lang="en-US" sz="1050" dirty="0"/>
              <a:t>To isolate the issue, I worked with the automation team to simulate concurrent transactions using JMeter.</a:t>
            </a:r>
          </a:p>
          <a:p>
            <a:r>
              <a:rPr lang="en-US" sz="1050" dirty="0"/>
              <a:t>After repeated testing, we identified a race condition in the transaction processing logic where two requests could update the same account balance simultaneously.</a:t>
            </a:r>
          </a:p>
          <a:p>
            <a:r>
              <a:rPr lang="en-US" sz="1050" b="1" dirty="0"/>
              <a:t>Outcome</a:t>
            </a:r>
          </a:p>
          <a:p>
            <a:r>
              <a:rPr lang="en-US" sz="1050" dirty="0"/>
              <a:t>Development team fixed the synchronization issue. </a:t>
            </a:r>
          </a:p>
          <a:p>
            <a:r>
              <a:rPr lang="en-US" sz="1050" dirty="0"/>
              <a:t>Additional validation rules were implemented. </a:t>
            </a:r>
          </a:p>
          <a:p>
            <a:r>
              <a:rPr lang="en-US" sz="1050" dirty="0"/>
              <a:t>We added new regression test cases. </a:t>
            </a:r>
          </a:p>
          <a:p>
            <a:r>
              <a:rPr lang="en-US" sz="1050" dirty="0"/>
              <a:t>Load testing was included in future releases. </a:t>
            </a:r>
          </a:p>
          <a:p>
            <a:r>
              <a:rPr lang="en-US" sz="1050" dirty="0"/>
              <a:t>The defect was resolved before production deployment, preventing potential financial discrepancies for customers.</a:t>
            </a:r>
          </a:p>
          <a:p>
            <a:r>
              <a:rPr lang="en-US" sz="1050" b="1" dirty="0"/>
              <a:t>Key Learning</a:t>
            </a:r>
          </a:p>
          <a:p>
            <a:r>
              <a:rPr lang="en-US" sz="1050" dirty="0"/>
              <a:t>This experience taught me:</a:t>
            </a:r>
          </a:p>
          <a:p>
            <a:r>
              <a:rPr lang="en-US" sz="1050" dirty="0"/>
              <a:t>Never ignore intermittent defects. </a:t>
            </a:r>
          </a:p>
          <a:p>
            <a:r>
              <a:rPr lang="en-US" sz="1050" dirty="0"/>
              <a:t>Collect evidence before escalating issues. </a:t>
            </a:r>
          </a:p>
          <a:p>
            <a:r>
              <a:rPr lang="en-US" sz="1050" dirty="0"/>
              <a:t>Work collaboratively with different teams. </a:t>
            </a:r>
          </a:p>
          <a:p>
            <a:r>
              <a:rPr lang="en-US" sz="1050" dirty="0"/>
              <a:t>Understand the business impact, not just technical impact.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39320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2E4D6F-BBDF-F683-7BD7-B2A6BEB7444A}"/>
              </a:ext>
            </a:extLst>
          </p:cNvPr>
          <p:cNvSpPr txBox="1"/>
          <p:nvPr/>
        </p:nvSpPr>
        <p:spPr>
          <a:xfrm>
            <a:off x="192024" y="121900"/>
            <a:ext cx="11512296" cy="6901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one of my previous projects, we were developing an online banking application. The application had recently undergone a major enhancement in the fund transfer module.</a:t>
            </a:r>
          </a:p>
          <a:p>
            <a:r>
              <a:rPr lang="en-US" sz="1200" dirty="0"/>
              <a:t>During User Acceptance Testing, everything appeared to be working correctly. However, while performing exploratory testing, I noticed that under specific conditions, the account balance was not updating correctly after multiple simultaneous transactions.</a:t>
            </a:r>
          </a:p>
          <a:p>
            <a:r>
              <a:rPr lang="en-US" sz="1200" dirty="0"/>
              <a:t>The challenge was that the defect could not be reproduced consistently. Sometimes it occurred, and sometimes it didn't.</a:t>
            </a:r>
          </a:p>
          <a:p>
            <a:r>
              <a:rPr lang="en-US" sz="1200" b="1" dirty="0"/>
              <a:t>Situation</a:t>
            </a:r>
          </a:p>
          <a:p>
            <a:r>
              <a:rPr lang="en-US" sz="1200" dirty="0"/>
              <a:t>Release was scheduled in less than one week. </a:t>
            </a:r>
          </a:p>
          <a:p>
            <a:r>
              <a:rPr lang="en-US" sz="1200" dirty="0"/>
              <a:t>Development team initially believed the issue was an environment problem. </a:t>
            </a:r>
          </a:p>
          <a:p>
            <a:r>
              <a:rPr lang="en-US" sz="1200" dirty="0"/>
              <a:t>Business stakeholders considered it low priority because it occurred rarely. </a:t>
            </a:r>
          </a:p>
          <a:p>
            <a:r>
              <a:rPr lang="en-US" sz="1200" dirty="0"/>
              <a:t>Since it involved financial transactions, I believed the risk was extremely high. </a:t>
            </a:r>
          </a:p>
          <a:p>
            <a:r>
              <a:rPr lang="en-US" sz="1200" b="1" dirty="0"/>
              <a:t>Actions Taken</a:t>
            </a:r>
          </a:p>
          <a:p>
            <a:r>
              <a:rPr lang="en-US" sz="1200" dirty="0"/>
              <a:t>First, I collected detailed evidence: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Application logs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Database transaction logs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Screenshots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 stamps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User activity records </a:t>
            </a:r>
          </a:p>
          <a:p>
            <a:endParaRPr lang="en-US" sz="1200" dirty="0"/>
          </a:p>
          <a:p>
            <a:r>
              <a:rPr lang="en-US" sz="1200" dirty="0"/>
              <a:t>Then I collaborated with: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Database Administrators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Business Analysts </a:t>
            </a:r>
          </a:p>
          <a:p>
            <a:r>
              <a:rPr lang="en-US" sz="1200" dirty="0"/>
              <a:t>I created a detailed defect report with exact reproduction steps.</a:t>
            </a:r>
          </a:p>
          <a:p>
            <a:r>
              <a:rPr lang="en-US" sz="1200" b="1" i="1" dirty="0"/>
              <a:t>To isolate the issue, I worked with the automation team to simulate concurrent transactions using JMeter.</a:t>
            </a:r>
          </a:p>
          <a:p>
            <a:r>
              <a:rPr lang="en-US" sz="1200" dirty="0"/>
              <a:t>After repeated testing, we identified a race condition in the transaction processing logic where two requests could update the same account balance simultaneously.</a:t>
            </a:r>
          </a:p>
          <a:p>
            <a:r>
              <a:rPr lang="en-US" sz="1200" b="1" dirty="0"/>
              <a:t>Outcome</a:t>
            </a:r>
          </a:p>
          <a:p>
            <a:r>
              <a:rPr lang="en-US" sz="1200" dirty="0"/>
              <a:t>Development team fixed the synchronization issue. </a:t>
            </a:r>
          </a:p>
          <a:p>
            <a:r>
              <a:rPr lang="en-US" sz="1200" dirty="0"/>
              <a:t>Additional validation rules were implemented. </a:t>
            </a:r>
          </a:p>
          <a:p>
            <a:r>
              <a:rPr lang="en-US" sz="1200" dirty="0"/>
              <a:t>We added new regression test cases. </a:t>
            </a:r>
          </a:p>
          <a:p>
            <a:r>
              <a:rPr lang="en-US" sz="1200" dirty="0"/>
              <a:t>Load testing was included in future releases. </a:t>
            </a:r>
          </a:p>
          <a:p>
            <a:r>
              <a:rPr lang="en-US" sz="1200" dirty="0"/>
              <a:t>The defect was resolved before production deployment, preventing potential financial discrepancies for customers.</a:t>
            </a:r>
          </a:p>
          <a:p>
            <a:r>
              <a:rPr lang="en-US" sz="1200" b="1" dirty="0"/>
              <a:t>Key Learning</a:t>
            </a:r>
          </a:p>
          <a:p>
            <a:r>
              <a:rPr lang="en-US" sz="1200" dirty="0"/>
              <a:t>This experience taught me:</a:t>
            </a:r>
          </a:p>
          <a:p>
            <a:r>
              <a:rPr lang="en-US" sz="1200" dirty="0"/>
              <a:t>Never ignore intermittent defects. </a:t>
            </a:r>
          </a:p>
          <a:p>
            <a:r>
              <a:rPr lang="en-US" sz="1200" dirty="0"/>
              <a:t>Collect evidence before escalating issues. </a:t>
            </a:r>
          </a:p>
          <a:p>
            <a:r>
              <a:rPr lang="en-US" sz="1200" dirty="0"/>
              <a:t>Work collaboratively with different teams. </a:t>
            </a:r>
          </a:p>
          <a:p>
            <a:r>
              <a:rPr lang="en-US" sz="1200" dirty="0"/>
              <a:t>Understand the business impact, not just technical impact.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49281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610"/>
            <a:ext cx="11353800" cy="1325563"/>
          </a:xfrm>
        </p:spPr>
        <p:txBody>
          <a:bodyPr/>
          <a:lstStyle/>
          <a:p>
            <a:r>
              <a:rPr dirty="0"/>
              <a:t>Question 1: Scenario 1 – Selenium Framework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are working as an Automation Test Engineer for an e-commerce company. The application undergoes frequent UI changes every sprint. Recently, developers changed several button IDs and element attributes, causing more than 60% of Selenium test scripts to fail.</a:t>
            </a:r>
          </a:p>
          <a:p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is concerned about the high maintenance effort and asks the QA team to improve the stability of the automation framework.</a:t>
            </a:r>
          </a:p>
          <a:p>
            <a:endParaRPr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the Automation Lead, what would be your BEST recommendation?</a:t>
            </a:r>
          </a:p>
          <a:p>
            <a:pPr marL="0" indent="0">
              <a:buNone/>
            </a:pPr>
            <a:endParaRPr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A. Rewrite all Selenium scripts after every release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B. Replace Selenium with Manual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C. Implement robust locator strategies and Page Object Model (POM)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D. Reduce the number of automated test cases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C. Implement robust locator strategies and Page Object Model (POM)</a:t>
            </a:r>
          </a:p>
          <a:p>
            <a:endParaRPr dirty="0"/>
          </a:p>
          <a:p>
            <a:r>
              <a:rPr dirty="0">
                <a:solidFill>
                  <a:srgbClr val="002060"/>
                </a:solidFill>
              </a:rPr>
              <a:t>Explanation:</a:t>
            </a:r>
          </a:p>
          <a:p>
            <a:pPr marL="0" indent="0">
              <a:buNone/>
            </a:pPr>
            <a:r>
              <a:rPr dirty="0"/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Scenario 2 – API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team has developed a REST API for customer registration. During testing, the API returns HTTP 200 OK and response time is acceptable. However, no customer record is created in the database.</a:t>
            </a:r>
          </a:p>
          <a:p>
            <a:endParaRPr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should be your next step?</a:t>
            </a:r>
          </a:p>
          <a:p>
            <a:endParaRPr sz="2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Close the defect because status code is correct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Verify only UI functionality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Validate response payload, business logic, and database entries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Increase API timeout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C. Validate response payload, business logic, and database entries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Scenario 3 – Jenkins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A Jenkins pipeline performs Code Checkout, Build, Unit Testing, and Selenium Testing. Buggy code is reaching production because deployment continues even when automation tests fail.</a:t>
            </a:r>
          </a:p>
          <a:p>
            <a:endParaRPr b="1" dirty="0"/>
          </a:p>
          <a:p>
            <a:r>
              <a:rPr b="1" dirty="0">
                <a:solidFill>
                  <a:srgbClr val="FF0000"/>
                </a:solidFill>
              </a:rPr>
              <a:t>What is the BEST solution?</a:t>
            </a:r>
          </a:p>
          <a:p>
            <a:endParaRPr b="1" dirty="0">
              <a:solidFill>
                <a:srgbClr val="FF0000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A. Ignore Selenium failures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B. Configure Jenkins quality gates and fail build on test failures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C. Run Selenium tests monthly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D. Remove automated testing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1" dirty="0"/>
              <a:t>Correct Answer:</a:t>
            </a:r>
          </a:p>
          <a:p>
            <a:pPr marL="0" indent="0">
              <a:buNone/>
            </a:pPr>
            <a:r>
              <a:rPr sz="2600" b="1" dirty="0">
                <a:solidFill>
                  <a:schemeClr val="accent1">
                    <a:lumMod val="50000"/>
                  </a:schemeClr>
                </a:solidFill>
              </a:rPr>
              <a:t>B. Configure Jenkins quality gates and fail build on test failures</a:t>
            </a:r>
          </a:p>
          <a:p>
            <a:endParaRPr sz="2600" b="1" dirty="0"/>
          </a:p>
          <a:p>
            <a:r>
              <a:rPr sz="2600" b="1" dirty="0"/>
              <a:t>Explanation:</a:t>
            </a:r>
          </a:p>
          <a:p>
            <a:pPr marL="0" indent="0">
              <a:buNone/>
            </a:pPr>
            <a:r>
              <a:rPr sz="2600" b="1"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Scenario 4 – GenAI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An AI-powered testing tool generates test cases from user stories. Reviewers find duplicate cases, missing negative scenarios, and incomplete boundary testing.</a:t>
            </a:r>
          </a:p>
          <a:p>
            <a:endParaRPr b="1" dirty="0"/>
          </a:p>
          <a:p>
            <a:r>
              <a:rPr b="1" dirty="0">
                <a:solidFill>
                  <a:srgbClr val="FF0000"/>
                </a:solidFill>
              </a:rPr>
              <a:t>What should be your recommendation?</a:t>
            </a:r>
          </a:p>
          <a:p>
            <a:endParaRPr b="1" dirty="0">
              <a:solidFill>
                <a:srgbClr val="FF0000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sz="3000" b="1" dirty="0">
                <a:solidFill>
                  <a:srgbClr val="FF0000"/>
                </a:solidFill>
              </a:rPr>
              <a:t>A. Execute all generated test cases immediately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sz="3000" b="1" dirty="0">
                <a:solidFill>
                  <a:srgbClr val="FF0000"/>
                </a:solidFill>
              </a:rPr>
              <a:t>B. Review and validate AI-generated test cases before execution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sz="3000" b="1" dirty="0">
                <a:solidFill>
                  <a:srgbClr val="FF0000"/>
                </a:solidFill>
              </a:rPr>
              <a:t>C. Stop using AI tools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sz="3000" b="1" dirty="0">
                <a:solidFill>
                  <a:srgbClr val="FF0000"/>
                </a:solidFill>
              </a:rPr>
              <a:t>D. Execute only positive test cases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B. Review and validate AI-generated test cases before execution</a:t>
            </a:r>
          </a:p>
          <a:p>
            <a:endParaRPr b="1" dirty="0"/>
          </a:p>
          <a:p>
            <a:r>
              <a:rPr b="1" dirty="0"/>
              <a:t>Explanation: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Scenario 5 – Performance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A banking application performs well with 500 users but slows significantly when 8,000 users access it during peak periods.</a:t>
            </a:r>
          </a:p>
          <a:p>
            <a:endParaRPr b="1" dirty="0"/>
          </a:p>
          <a:p>
            <a:r>
              <a:rPr b="1" dirty="0">
                <a:solidFill>
                  <a:srgbClr val="FF0000"/>
                </a:solidFill>
              </a:rPr>
              <a:t>Which testing approach provides the most valuable information?</a:t>
            </a:r>
          </a:p>
          <a:p>
            <a:endParaRPr b="1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sz="3200" b="1" dirty="0">
                <a:solidFill>
                  <a:srgbClr val="FF0000"/>
                </a:solidFill>
              </a:rPr>
              <a:t>A. Functional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3200" b="1" dirty="0">
                <a:solidFill>
                  <a:srgbClr val="FF0000"/>
                </a:solidFill>
              </a:rPr>
              <a:t>B. Regression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3200" b="1" dirty="0">
                <a:solidFill>
                  <a:srgbClr val="FF0000"/>
                </a:solidFill>
              </a:rPr>
              <a:t>C. Load and Stress Testing using JMeter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sz="3200" b="1" dirty="0">
                <a:solidFill>
                  <a:srgbClr val="FF0000"/>
                </a:solidFill>
              </a:rPr>
              <a:t>D. UI Testing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C. Load and Stress Testing using JMeter</a:t>
            </a:r>
          </a:p>
          <a:p>
            <a:endParaRPr b="1" dirty="0"/>
          </a:p>
          <a:p>
            <a:r>
              <a:rPr b="1" dirty="0"/>
              <a:t>Explanation: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MCQ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Who is responsible for prioritizing the Product Backlog in Scrum?</a:t>
            </a:r>
          </a:p>
          <a:p>
            <a:endParaRPr b="1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rgbClr val="FF0000"/>
                </a:solidFill>
              </a:rPr>
              <a:t>A. Scrum Master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rgbClr val="FF0000"/>
                </a:solidFill>
              </a:rPr>
              <a:t>B. Product Owner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rgbClr val="FF0000"/>
                </a:solidFill>
              </a:rPr>
              <a:t>C. Developer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rgbClr val="FF0000"/>
                </a:solidFill>
              </a:rPr>
              <a:t>D. Tester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B. Product Owner</a:t>
            </a:r>
          </a:p>
          <a:p>
            <a:endParaRPr b="1" dirty="0"/>
          </a:p>
          <a:p>
            <a:r>
              <a:rPr b="1" dirty="0"/>
              <a:t>Explanation: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MCQ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Agile artifact contains all product requirements?</a:t>
            </a:r>
          </a:p>
          <a:p>
            <a:endParaRPr b="1" dirty="0">
              <a:solidFill>
                <a:srgbClr val="FF0000"/>
              </a:solidFill>
            </a:endParaRPr>
          </a:p>
          <a:p>
            <a:pPr lvl="1"/>
            <a:r>
              <a:rPr b="1" dirty="0">
                <a:solidFill>
                  <a:srgbClr val="FF0000"/>
                </a:solidFill>
              </a:rPr>
              <a:t>A. Sprint Backlog</a:t>
            </a:r>
          </a:p>
          <a:p>
            <a:pPr lvl="1"/>
            <a:r>
              <a:rPr b="1" dirty="0">
                <a:solidFill>
                  <a:srgbClr val="FF0000"/>
                </a:solidFill>
              </a:rPr>
              <a:t>B. Product Backlog</a:t>
            </a:r>
          </a:p>
          <a:p>
            <a:pPr lvl="1"/>
            <a:r>
              <a:rPr b="1" dirty="0">
                <a:solidFill>
                  <a:srgbClr val="FF0000"/>
                </a:solidFill>
              </a:rPr>
              <a:t>C. Burndown Chart</a:t>
            </a:r>
          </a:p>
          <a:p>
            <a:pPr lvl="1"/>
            <a:r>
              <a:rPr b="1" dirty="0">
                <a:solidFill>
                  <a:srgbClr val="FF0000"/>
                </a:solidFill>
              </a:rPr>
              <a:t>D. Test Plan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B. Product Backlog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8: MCQ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Selenium component interacts directly with browsers?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Selenium IDE</a:t>
            </a:r>
          </a:p>
          <a:p>
            <a:r>
              <a:rPr b="1" dirty="0">
                <a:solidFill>
                  <a:srgbClr val="FF0000"/>
                </a:solidFill>
              </a:rPr>
              <a:t>B. Selenium Grid</a:t>
            </a:r>
          </a:p>
          <a:p>
            <a:r>
              <a:rPr b="1" dirty="0">
                <a:solidFill>
                  <a:srgbClr val="FF0000"/>
                </a:solidFill>
              </a:rPr>
              <a:t>C. WebDriver</a:t>
            </a:r>
          </a:p>
          <a:p>
            <a:r>
              <a:rPr b="1" dirty="0">
                <a:solidFill>
                  <a:srgbClr val="FF0000"/>
                </a:solidFill>
              </a:rPr>
              <a:t>D. Maven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C. WebDriver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9: MCQ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Selenium locator is generally fastest?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XPath</a:t>
            </a:r>
          </a:p>
          <a:p>
            <a:r>
              <a:rPr b="1" dirty="0">
                <a:solidFill>
                  <a:srgbClr val="FF0000"/>
                </a:solidFill>
              </a:rPr>
              <a:t>B. CSS</a:t>
            </a:r>
          </a:p>
          <a:p>
            <a:r>
              <a:rPr b="1" dirty="0">
                <a:solidFill>
                  <a:srgbClr val="FF0000"/>
                </a:solidFill>
              </a:rPr>
              <a:t>C. ID</a:t>
            </a:r>
          </a:p>
          <a:p>
            <a:r>
              <a:rPr b="1" dirty="0">
                <a:solidFill>
                  <a:srgbClr val="FF0000"/>
                </a:solidFill>
              </a:rPr>
              <a:t>D. Link Text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C. ID</a:t>
            </a:r>
          </a:p>
          <a:p>
            <a:endParaRPr b="1" dirty="0"/>
          </a:p>
          <a:p>
            <a:r>
              <a:rPr b="1" dirty="0"/>
              <a:t>Explanation: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10: MCQ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What is Selenium Grid primarily used for?</a:t>
            </a:r>
          </a:p>
          <a:p>
            <a:endParaRPr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FF0000"/>
                </a:solidFill>
              </a:rPr>
              <a:t>A. Database Testing</a:t>
            </a:r>
          </a:p>
          <a:p>
            <a:r>
              <a:rPr dirty="0">
                <a:solidFill>
                  <a:srgbClr val="FF0000"/>
                </a:solidFill>
              </a:rPr>
              <a:t>B. Parallel Execution</a:t>
            </a:r>
          </a:p>
          <a:p>
            <a:r>
              <a:rPr dirty="0">
                <a:solidFill>
                  <a:srgbClr val="FF0000"/>
                </a:solidFill>
              </a:rPr>
              <a:t>C. API Testing</a:t>
            </a:r>
          </a:p>
          <a:p>
            <a:r>
              <a:rPr dirty="0">
                <a:solidFill>
                  <a:srgbClr val="FF0000"/>
                </a:solidFill>
              </a:rPr>
              <a:t>D. Mobile Testing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Correct Answer:</a:t>
            </a:r>
          </a:p>
          <a:p>
            <a:pPr marL="0" indent="0">
              <a:buNone/>
            </a:pPr>
            <a:r>
              <a:rPr b="1" dirty="0"/>
              <a:t>B</a:t>
            </a: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. Parallel Execution</a:t>
            </a:r>
          </a:p>
          <a:p>
            <a:endParaRPr b="1" dirty="0"/>
          </a:p>
          <a:p>
            <a:r>
              <a:rPr b="1"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11: MCQ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TestNG annotation runs before every test method?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@Test</a:t>
            </a:r>
          </a:p>
          <a:p>
            <a:r>
              <a:rPr b="1" dirty="0">
                <a:solidFill>
                  <a:srgbClr val="FF0000"/>
                </a:solidFill>
              </a:rPr>
              <a:t>B. @BeforeMethod</a:t>
            </a:r>
          </a:p>
          <a:p>
            <a:r>
              <a:rPr b="1" dirty="0">
                <a:solidFill>
                  <a:srgbClr val="FF0000"/>
                </a:solidFill>
              </a:rPr>
              <a:t>C. @AfterSuite</a:t>
            </a:r>
          </a:p>
          <a:p>
            <a:r>
              <a:rPr b="1" dirty="0">
                <a:solidFill>
                  <a:srgbClr val="FF0000"/>
                </a:solidFill>
              </a:rPr>
              <a:t>D. @Factory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50000"/>
                  </a:schemeClr>
                </a:solidFill>
              </a:rPr>
              <a:t>B. @BeforeMethod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12: MCQ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TestNG feature supports data-driven testing?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@Factory</a:t>
            </a:r>
          </a:p>
          <a:p>
            <a:r>
              <a:rPr b="1" dirty="0">
                <a:solidFill>
                  <a:srgbClr val="FF0000"/>
                </a:solidFill>
              </a:rPr>
              <a:t>B. @Groups</a:t>
            </a:r>
          </a:p>
          <a:p>
            <a:r>
              <a:rPr b="1" dirty="0">
                <a:solidFill>
                  <a:srgbClr val="FF0000"/>
                </a:solidFill>
              </a:rPr>
              <a:t>C. @DataProvider</a:t>
            </a:r>
          </a:p>
          <a:p>
            <a:r>
              <a:rPr b="1" dirty="0">
                <a:solidFill>
                  <a:srgbClr val="FF0000"/>
                </a:solidFill>
              </a:rPr>
              <a:t>D. @Suite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/>
              <a:t>C. @DataProvider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13: MCQ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tool is commonly used for REST API testing?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Jenkins</a:t>
            </a:r>
          </a:p>
          <a:p>
            <a:r>
              <a:rPr b="1" dirty="0">
                <a:solidFill>
                  <a:srgbClr val="FF0000"/>
                </a:solidFill>
              </a:rPr>
              <a:t>B. Selenium</a:t>
            </a:r>
          </a:p>
          <a:p>
            <a:r>
              <a:rPr b="1" dirty="0">
                <a:solidFill>
                  <a:srgbClr val="FF0000"/>
                </a:solidFill>
              </a:rPr>
              <a:t>C. Postman</a:t>
            </a:r>
          </a:p>
          <a:p>
            <a:r>
              <a:rPr b="1" dirty="0">
                <a:solidFill>
                  <a:srgbClr val="FF0000"/>
                </a:solidFill>
              </a:rPr>
              <a:t>D. Docker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/>
              <a:t>C. Postman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14: MCQ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Which HTTP method is typically used to create a resource?</a:t>
            </a:r>
          </a:p>
          <a:p>
            <a:endParaRPr b="1" dirty="0">
              <a:solidFill>
                <a:srgbClr val="FF0000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A. GET</a:t>
            </a:r>
          </a:p>
          <a:p>
            <a:r>
              <a:rPr b="1" dirty="0">
                <a:solidFill>
                  <a:srgbClr val="FF0000"/>
                </a:solidFill>
              </a:rPr>
              <a:t>B. POST</a:t>
            </a:r>
          </a:p>
          <a:p>
            <a:r>
              <a:rPr b="1" dirty="0">
                <a:solidFill>
                  <a:srgbClr val="FF0000"/>
                </a:solidFill>
              </a:rPr>
              <a:t>C. DELETE</a:t>
            </a:r>
          </a:p>
          <a:p>
            <a:r>
              <a:rPr b="1" dirty="0">
                <a:solidFill>
                  <a:srgbClr val="FF0000"/>
                </a:solidFill>
              </a:rPr>
              <a:t>D. HEAD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B. POST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15: MCQ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Which tool is widely used for performance testing?</a:t>
            </a:r>
          </a:p>
          <a:p>
            <a:endParaRPr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FF0000"/>
                </a:solidFill>
              </a:rPr>
              <a:t>A. Selenium</a:t>
            </a:r>
          </a:p>
          <a:p>
            <a:r>
              <a:rPr dirty="0">
                <a:solidFill>
                  <a:srgbClr val="FF0000"/>
                </a:solidFill>
              </a:rPr>
              <a:t>B. Git</a:t>
            </a:r>
          </a:p>
          <a:p>
            <a:r>
              <a:rPr dirty="0">
                <a:solidFill>
                  <a:srgbClr val="FF0000"/>
                </a:solidFill>
              </a:rPr>
              <a:t>C. JMeter</a:t>
            </a:r>
          </a:p>
          <a:p>
            <a:r>
              <a:rPr dirty="0">
                <a:solidFill>
                  <a:srgbClr val="FF0000"/>
                </a:solidFill>
              </a:rPr>
              <a:t>D. Maven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Answer:</a:t>
            </a:r>
          </a:p>
          <a:p>
            <a:pPr marL="0" indent="0">
              <a:buNone/>
            </a:pPr>
            <a:r>
              <a:rPr b="1" dirty="0"/>
              <a:t>C. JMeter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This is the best answer according to QA Automation Testing, Selenium, API Testing, Agile, CI/CD, Performance Testing and GenAI Testing best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</TotalTime>
  <Words>2513</Words>
  <Application>Microsoft Office PowerPoint</Application>
  <PresentationFormat>Widescreen</PresentationFormat>
  <Paragraphs>446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Aptos</vt:lpstr>
      <vt:lpstr>Aptos Display</vt:lpstr>
      <vt:lpstr>Arial</vt:lpstr>
      <vt:lpstr>Calibri</vt:lpstr>
      <vt:lpstr>Courier New</vt:lpstr>
      <vt:lpstr>Open sans</vt:lpstr>
      <vt:lpstr>Office Theme</vt:lpstr>
      <vt:lpstr>Test Planning Experience</vt:lpstr>
      <vt:lpstr>What I expect </vt:lpstr>
      <vt:lpstr>Requirement Ambiguity</vt:lpstr>
      <vt:lpstr>What I expect </vt:lpstr>
      <vt:lpstr>Regression Testing</vt:lpstr>
      <vt:lpstr>What I expect </vt:lpstr>
      <vt:lpstr>Defect Management</vt:lpstr>
      <vt:lpstr>What I expect </vt:lpstr>
      <vt:lpstr>Regression Testing</vt:lpstr>
      <vt:lpstr>What I expect </vt:lpstr>
      <vt:lpstr>Difficult Developer Situation</vt:lpstr>
      <vt:lpstr>Test Case Design</vt:lpstr>
      <vt:lpstr>Regression Testing</vt:lpstr>
      <vt:lpstr>What I expect </vt:lpstr>
      <vt:lpstr>Production Defect</vt:lpstr>
      <vt:lpstr>What I expect </vt:lpstr>
      <vt:lpstr>Agile Experience</vt:lpstr>
      <vt:lpstr>What I expect </vt:lpstr>
      <vt:lpstr>Automation Experience</vt:lpstr>
      <vt:lpstr>What I expect </vt:lpstr>
      <vt:lpstr>Test Data Management</vt:lpstr>
      <vt:lpstr>What I expect </vt:lpstr>
      <vt:lpstr>Stakeholder Communication</vt:lpstr>
      <vt:lpstr>What I expect </vt:lpstr>
      <vt:lpstr>API Testing Experience</vt:lpstr>
      <vt:lpstr>What I expect </vt:lpstr>
      <vt:lpstr>Release Readiness</vt:lpstr>
      <vt:lpstr>What I expect </vt:lpstr>
      <vt:lpstr>Most Challenging Testing Experience</vt:lpstr>
      <vt:lpstr>What I expect </vt:lpstr>
      <vt:lpstr>PowerPoint Presentation</vt:lpstr>
      <vt:lpstr>Question 1: Scenario 1 – Selenium Framework Stability</vt:lpstr>
      <vt:lpstr>Answer 1</vt:lpstr>
      <vt:lpstr>Question 2: Scenario 2 – API Testing</vt:lpstr>
      <vt:lpstr>Answer 2</vt:lpstr>
      <vt:lpstr>Question 3: Scenario 3 – Jenkins CI/CD</vt:lpstr>
      <vt:lpstr>Answer 3</vt:lpstr>
      <vt:lpstr>Question 4: Scenario 4 – GenAI Testing</vt:lpstr>
      <vt:lpstr>Answer 4</vt:lpstr>
      <vt:lpstr>Question 5: Scenario 5 – Performance Testing</vt:lpstr>
      <vt:lpstr>Answer 5</vt:lpstr>
      <vt:lpstr>Question 6: MCQ 1</vt:lpstr>
      <vt:lpstr>Answer 6</vt:lpstr>
      <vt:lpstr>Question 7: MCQ 2</vt:lpstr>
      <vt:lpstr>Answer 7</vt:lpstr>
      <vt:lpstr>Question 8: MCQ 3</vt:lpstr>
      <vt:lpstr>Answer 8</vt:lpstr>
      <vt:lpstr>Question 9: MCQ 4</vt:lpstr>
      <vt:lpstr>Answer 9</vt:lpstr>
      <vt:lpstr>Question 10: MCQ 5</vt:lpstr>
      <vt:lpstr>Answer 10</vt:lpstr>
      <vt:lpstr>Question 11: MCQ 6</vt:lpstr>
      <vt:lpstr>Answer 11</vt:lpstr>
      <vt:lpstr>Question 12: MCQ 7</vt:lpstr>
      <vt:lpstr>Answer 12</vt:lpstr>
      <vt:lpstr>Question 13: MCQ 8</vt:lpstr>
      <vt:lpstr>Answer 13</vt:lpstr>
      <vt:lpstr>Question 14: MCQ 9</vt:lpstr>
      <vt:lpstr>Answer 14</vt:lpstr>
      <vt:lpstr>Question 15: MCQ 10</vt:lpstr>
      <vt:lpstr>Answer 15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Bipeen Sinha</dc:description>
  <cp:lastModifiedBy>Info Desk</cp:lastModifiedBy>
  <cp:revision>9</cp:revision>
  <dcterms:created xsi:type="dcterms:W3CDTF">2013-01-27T09:14:16Z</dcterms:created>
  <dcterms:modified xsi:type="dcterms:W3CDTF">2026-06-18T12:03:25Z</dcterms:modified>
  <cp:category/>
</cp:coreProperties>
</file>